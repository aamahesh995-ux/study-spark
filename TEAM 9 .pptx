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eace Sans" charset="1" panose="02000505040000020004"/>
      <p:regular r:id="rId14"/>
    </p:embeddedFont>
    <p:embeddedFont>
      <p:font typeface="Open Sans Bold" charset="1" panose="020B08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10503" y="972508"/>
            <a:ext cx="9039569" cy="8203231"/>
          </a:xfrm>
          <a:custGeom>
            <a:avLst/>
            <a:gdLst/>
            <a:ahLst/>
            <a:cxnLst/>
            <a:rect r="r" b="b" t="t" l="l"/>
            <a:pathLst>
              <a:path h="8203231" w="9039569">
                <a:moveTo>
                  <a:pt x="0" y="0"/>
                </a:moveTo>
                <a:lnTo>
                  <a:pt x="9039569" y="0"/>
                </a:lnTo>
                <a:lnTo>
                  <a:pt x="9039569" y="8203231"/>
                </a:lnTo>
                <a:lnTo>
                  <a:pt x="0" y="8203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78424" y="202586"/>
            <a:ext cx="9042057" cy="10577104"/>
          </a:xfrm>
          <a:custGeom>
            <a:avLst/>
            <a:gdLst/>
            <a:ahLst/>
            <a:cxnLst/>
            <a:rect r="r" b="b" t="t" l="l"/>
            <a:pathLst>
              <a:path h="10577104" w="9042057">
                <a:moveTo>
                  <a:pt x="0" y="0"/>
                </a:moveTo>
                <a:lnTo>
                  <a:pt x="9042057" y="0"/>
                </a:lnTo>
                <a:lnTo>
                  <a:pt x="9042057" y="10577103"/>
                </a:lnTo>
                <a:lnTo>
                  <a:pt x="0" y="10577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38132" y="2908968"/>
            <a:ext cx="12282349" cy="111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97"/>
              </a:lnSpc>
            </a:pPr>
            <a:r>
              <a:rPr lang="en-US" sz="6641" spc="13">
                <a:solidFill>
                  <a:srgbClr val="3E0817"/>
                </a:solidFill>
                <a:latin typeface="Peace Sans"/>
                <a:ea typeface="Peace Sans"/>
                <a:cs typeface="Peace Sans"/>
                <a:sym typeface="Peace Sans"/>
              </a:rPr>
              <a:t>MERN-Based Study Planner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37900" y="5007449"/>
            <a:ext cx="6565160" cy="380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6"/>
              </a:lnSpc>
            </a:pPr>
            <a:r>
              <a:rPr lang="en-US" b="true" sz="359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Study Schedules with Progress Tracking</a:t>
            </a:r>
          </a:p>
          <a:p>
            <a:pPr algn="ctr" marL="0" indent="0" lvl="0">
              <a:lnSpc>
                <a:spcPts val="5036"/>
              </a:lnSpc>
            </a:pPr>
            <a:r>
              <a:rPr lang="en-US" b="true" sz="359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Presented by [KUSUMA</a:t>
            </a:r>
          </a:p>
          <a:p>
            <a:pPr algn="ctr" marL="0" indent="0" lvl="0">
              <a:lnSpc>
                <a:spcPts val="5036"/>
              </a:lnSpc>
            </a:pPr>
            <a:r>
              <a:rPr lang="en-US" b="true" sz="359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                   AKASHYA</a:t>
            </a:r>
          </a:p>
          <a:p>
            <a:pPr algn="ctr" marL="0" indent="0" lvl="0">
              <a:lnSpc>
                <a:spcPts val="5036"/>
              </a:lnSpc>
            </a:pPr>
            <a:r>
              <a:rPr lang="en-US" b="true" sz="359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                      KEERTHANA</a:t>
            </a:r>
          </a:p>
          <a:p>
            <a:pPr algn="ctr" marL="0" indent="0" lvl="0">
              <a:lnSpc>
                <a:spcPts val="5036"/>
              </a:lnSpc>
            </a:pPr>
            <a:r>
              <a:rPr lang="en-US" b="true" sz="359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                 MAHESH]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86089" y="657225"/>
            <a:ext cx="3126034" cy="99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07"/>
              </a:lnSpc>
            </a:pPr>
            <a:r>
              <a:rPr lang="en-US" sz="5862" spc="11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592" y="8322095"/>
            <a:ext cx="3126034" cy="99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07"/>
              </a:lnSpc>
            </a:pPr>
            <a:r>
              <a:rPr lang="en-US" sz="5862" spc="11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846439">
            <a:off x="-2796940" y="-7984331"/>
            <a:ext cx="12640709" cy="9469040"/>
          </a:xfrm>
          <a:custGeom>
            <a:avLst/>
            <a:gdLst/>
            <a:ahLst/>
            <a:cxnLst/>
            <a:rect r="r" b="b" t="t" l="l"/>
            <a:pathLst>
              <a:path h="9469040" w="12640709">
                <a:moveTo>
                  <a:pt x="12640709" y="0"/>
                </a:moveTo>
                <a:lnTo>
                  <a:pt x="0" y="0"/>
                </a:lnTo>
                <a:lnTo>
                  <a:pt x="0" y="9469040"/>
                </a:lnTo>
                <a:lnTo>
                  <a:pt x="12640709" y="9469040"/>
                </a:lnTo>
                <a:lnTo>
                  <a:pt x="12640709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98745" y="2189162"/>
            <a:ext cx="8090509" cy="88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98"/>
              </a:lnSpc>
            </a:pPr>
            <a:r>
              <a:rPr lang="en-US" sz="5213" spc="10">
                <a:solidFill>
                  <a:srgbClr val="3E0817"/>
                </a:solidFill>
                <a:latin typeface="Peace Sans"/>
                <a:ea typeface="Peace Sans"/>
                <a:cs typeface="Peace Sans"/>
                <a:sym typeface="Peace Sans"/>
              </a:rPr>
              <a:t>PROBLEM STATEMENT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-6723837">
            <a:off x="11275504" y="8659467"/>
            <a:ext cx="12640709" cy="9469040"/>
          </a:xfrm>
          <a:custGeom>
            <a:avLst/>
            <a:gdLst/>
            <a:ahLst/>
            <a:cxnLst/>
            <a:rect r="r" b="b" t="t" l="l"/>
            <a:pathLst>
              <a:path h="9469040" w="12640709">
                <a:moveTo>
                  <a:pt x="12640708" y="9469039"/>
                </a:moveTo>
                <a:lnTo>
                  <a:pt x="0" y="9469039"/>
                </a:lnTo>
                <a:lnTo>
                  <a:pt x="0" y="0"/>
                </a:lnTo>
                <a:lnTo>
                  <a:pt x="12640708" y="0"/>
                </a:lnTo>
                <a:lnTo>
                  <a:pt x="12640708" y="9469039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14233" y="3882866"/>
            <a:ext cx="13234873" cy="127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9"/>
              </a:lnSpc>
            </a:pPr>
            <a:r>
              <a:rPr lang="en-US" b="true" sz="247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Poor Time Management</a:t>
            </a:r>
          </a:p>
          <a:p>
            <a:pPr algn="l" marL="0" indent="0" lvl="0">
              <a:lnSpc>
                <a:spcPts val="3469"/>
              </a:lnSpc>
            </a:pPr>
            <a:r>
              <a:rPr lang="en-US" b="true" sz="247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Students struggle to allocate study time effectively across multiple subjects, leading to last-minute cramming and burnout before exams.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86089" y="609600"/>
            <a:ext cx="3126034" cy="139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61"/>
              </a:lnSpc>
            </a:pPr>
            <a:r>
              <a:rPr lang="en-US" sz="8115" spc="1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7381" y="8442535"/>
            <a:ext cx="3126034" cy="139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61"/>
              </a:lnSpc>
            </a:pPr>
            <a:r>
              <a:rPr lang="en-US" sz="8115" spc="1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  <p:sp>
        <p:nvSpPr>
          <p:cNvPr name="AutoShape 8" id="8"/>
          <p:cNvSpPr/>
          <p:nvPr/>
        </p:nvSpPr>
        <p:spPr>
          <a:xfrm>
            <a:off x="3114233" y="9220200"/>
            <a:ext cx="12170942" cy="38100"/>
          </a:xfrm>
          <a:prstGeom prst="line">
            <a:avLst/>
          </a:prstGeom>
          <a:ln cap="flat" w="9525">
            <a:solidFill>
              <a:srgbClr val="3E08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5619423" y="8885122"/>
            <a:ext cx="1459364" cy="50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2"/>
              </a:lnSpc>
            </a:pPr>
            <a:r>
              <a:rPr lang="en-US" sz="2994" spc="5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14233" y="5710396"/>
            <a:ext cx="13234873" cy="127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9"/>
              </a:lnSpc>
            </a:pPr>
            <a:r>
              <a:rPr lang="en-US" b="true" sz="247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Missed Deadlines &amp; No Progress Tracking</a:t>
            </a:r>
          </a:p>
          <a:p>
            <a:pPr algn="l" marL="0" indent="0" lvl="0">
              <a:lnSpc>
                <a:spcPts val="3469"/>
              </a:lnSpc>
            </a:pPr>
            <a:r>
              <a:rPr lang="en-US" b="true" sz="247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Without a centralized planner, students miss assignment deadlines and have no visibility into their study completion or progress over time.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6885721" y="5552480"/>
            <a:ext cx="12640709" cy="9469040"/>
          </a:xfrm>
          <a:custGeom>
            <a:avLst/>
            <a:gdLst/>
            <a:ahLst/>
            <a:cxnLst/>
            <a:rect r="r" b="b" t="t" l="l"/>
            <a:pathLst>
              <a:path h="9469040" w="12640709">
                <a:moveTo>
                  <a:pt x="12640708" y="0"/>
                </a:moveTo>
                <a:lnTo>
                  <a:pt x="0" y="0"/>
                </a:lnTo>
                <a:lnTo>
                  <a:pt x="0" y="9469040"/>
                </a:lnTo>
                <a:lnTo>
                  <a:pt x="12640708" y="9469040"/>
                </a:lnTo>
                <a:lnTo>
                  <a:pt x="12640708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98745" y="2160587"/>
            <a:ext cx="8090509" cy="112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33"/>
              </a:lnSpc>
            </a:pPr>
            <a:r>
              <a:rPr lang="en-US" sz="6595" spc="13">
                <a:solidFill>
                  <a:srgbClr val="3E0817"/>
                </a:solidFill>
                <a:latin typeface="Peace Sans"/>
                <a:ea typeface="Peace Sans"/>
                <a:cs typeface="Peace Sans"/>
                <a:sym typeface="Peace Sans"/>
              </a:rPr>
              <a:t>PROJECT GOALS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1967646" y="-5251096"/>
            <a:ext cx="12640709" cy="9469040"/>
          </a:xfrm>
          <a:custGeom>
            <a:avLst/>
            <a:gdLst/>
            <a:ahLst/>
            <a:cxnLst/>
            <a:rect r="r" b="b" t="t" l="l"/>
            <a:pathLst>
              <a:path h="9469040" w="12640709">
                <a:moveTo>
                  <a:pt x="0" y="9469040"/>
                </a:moveTo>
                <a:lnTo>
                  <a:pt x="12640708" y="9469040"/>
                </a:lnTo>
                <a:lnTo>
                  <a:pt x="12640708" y="0"/>
                </a:lnTo>
                <a:lnTo>
                  <a:pt x="0" y="0"/>
                </a:lnTo>
                <a:lnTo>
                  <a:pt x="0" y="946904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14233" y="3882866"/>
            <a:ext cx="13234873" cy="127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9"/>
              </a:lnSpc>
            </a:pPr>
            <a:r>
              <a:rPr lang="en-US" b="true" sz="247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Unified Study Planner: Build one intelligent platform that automatically organizes studying — eliminating manual scheduling and keeping students on track with deadlines and tasks.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86089" y="609600"/>
            <a:ext cx="3126034" cy="139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61"/>
              </a:lnSpc>
            </a:pPr>
            <a:r>
              <a:rPr lang="en-US" sz="8115" spc="1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7381" y="8442535"/>
            <a:ext cx="3126034" cy="139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61"/>
              </a:lnSpc>
            </a:pPr>
            <a:r>
              <a:rPr lang="en-US" sz="8115" spc="1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  <p:sp>
        <p:nvSpPr>
          <p:cNvPr name="AutoShape 8" id="8"/>
          <p:cNvSpPr/>
          <p:nvPr/>
        </p:nvSpPr>
        <p:spPr>
          <a:xfrm>
            <a:off x="3114233" y="9220200"/>
            <a:ext cx="12170942" cy="38100"/>
          </a:xfrm>
          <a:prstGeom prst="line">
            <a:avLst/>
          </a:prstGeom>
          <a:ln cap="flat" w="9525">
            <a:solidFill>
              <a:srgbClr val="3E08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5619423" y="8856547"/>
            <a:ext cx="1459364" cy="65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4"/>
              </a:lnSpc>
            </a:pPr>
            <a:r>
              <a:rPr lang="en-US" sz="3788" spc="7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14233" y="5710396"/>
            <a:ext cx="13234873" cy="1277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9"/>
              </a:lnSpc>
            </a:pPr>
            <a:r>
              <a:rPr lang="en-US" b="true" sz="247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Smart Schedule Generation: Automatically generate personalized study schedules based on subjects, deadlines, and availability — then monitor task completion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98745" y="2189162"/>
            <a:ext cx="8090509" cy="90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92"/>
              </a:lnSpc>
            </a:pPr>
            <a:r>
              <a:rPr lang="en-US" sz="5351" spc="10">
                <a:solidFill>
                  <a:srgbClr val="3E0817"/>
                </a:solidFill>
                <a:latin typeface="Peace Sans"/>
                <a:ea typeface="Peace Sans"/>
                <a:cs typeface="Peace Sans"/>
                <a:sym typeface="Peace Sans"/>
              </a:rPr>
              <a:t>MERN ARCHITECTURE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6723837">
            <a:off x="10710785" y="3838425"/>
            <a:ext cx="18486382" cy="11091829"/>
          </a:xfrm>
          <a:custGeom>
            <a:avLst/>
            <a:gdLst/>
            <a:ahLst/>
            <a:cxnLst/>
            <a:rect r="r" b="b" t="t" l="l"/>
            <a:pathLst>
              <a:path h="11091829" w="18486382">
                <a:moveTo>
                  <a:pt x="0" y="0"/>
                </a:moveTo>
                <a:lnTo>
                  <a:pt x="18486383" y="0"/>
                </a:lnTo>
                <a:lnTo>
                  <a:pt x="18486383" y="11091829"/>
                </a:lnTo>
                <a:lnTo>
                  <a:pt x="0" y="11091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58009" y="4168616"/>
            <a:ext cx="6466477" cy="3989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81"/>
              </a:lnSpc>
            </a:pPr>
            <a:r>
              <a:rPr lang="en-US" b="true" sz="255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 — React.js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Dynamic UI for schedule views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Task creation &amp; management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Progress dashboards &amp; charts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Real-time completion tracking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Responsive, mobile-friendly design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Axios for REST API calls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React Router for navigation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7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Context API for state management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786089" y="609600"/>
            <a:ext cx="3126034" cy="139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61"/>
              </a:lnSpc>
            </a:pPr>
            <a:r>
              <a:rPr lang="en-US" sz="8115" spc="1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7381" y="8442535"/>
            <a:ext cx="3126034" cy="139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61"/>
              </a:lnSpc>
            </a:pPr>
            <a:r>
              <a:rPr lang="en-US" sz="8115" spc="1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  <p:sp>
        <p:nvSpPr>
          <p:cNvPr name="AutoShape 7" id="7"/>
          <p:cNvSpPr/>
          <p:nvPr/>
        </p:nvSpPr>
        <p:spPr>
          <a:xfrm>
            <a:off x="3114233" y="9220200"/>
            <a:ext cx="12170942" cy="38100"/>
          </a:xfrm>
          <a:prstGeom prst="line">
            <a:avLst/>
          </a:prstGeom>
          <a:ln cap="flat" w="9525">
            <a:solidFill>
              <a:srgbClr val="3E08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5619423" y="8875597"/>
            <a:ext cx="1459364" cy="52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03"/>
              </a:lnSpc>
            </a:pPr>
            <a:r>
              <a:rPr lang="en-US" sz="3074" spc="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04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16782" y="4168616"/>
            <a:ext cx="5702641" cy="443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81"/>
              </a:lnSpc>
            </a:pPr>
            <a:r>
              <a:rPr lang="en-US" b="true" sz="255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— Node.js &amp; Express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RESTful API endpoints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User authentication (JWT)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Schedule generation logic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MongoDB via Mongoose ODM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Collections: Users, Tasks, Schedules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CRUD operations for all entities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Middleware for auth &amp; validation</a:t>
            </a:r>
          </a:p>
          <a:p>
            <a:pPr algn="l" marL="0" indent="0" lvl="0">
              <a:lnSpc>
                <a:spcPts val="3581"/>
              </a:lnSpc>
            </a:pPr>
            <a:r>
              <a:rPr lang="en-US" b="true" sz="2558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Deployed via Render / Railway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6120797">
            <a:off x="-6954472" y="-7673154"/>
            <a:ext cx="12009223" cy="15525868"/>
          </a:xfrm>
          <a:custGeom>
            <a:avLst/>
            <a:gdLst/>
            <a:ahLst/>
            <a:cxnLst/>
            <a:rect r="r" b="b" t="t" l="l"/>
            <a:pathLst>
              <a:path h="15525868" w="12009223">
                <a:moveTo>
                  <a:pt x="0" y="0"/>
                </a:moveTo>
                <a:lnTo>
                  <a:pt x="12009223" y="0"/>
                </a:lnTo>
                <a:lnTo>
                  <a:pt x="12009223" y="15525869"/>
                </a:lnTo>
                <a:lnTo>
                  <a:pt x="0" y="155258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292220">
            <a:off x="-8978325" y="-12128854"/>
            <a:ext cx="17956650" cy="13451163"/>
          </a:xfrm>
          <a:custGeom>
            <a:avLst/>
            <a:gdLst/>
            <a:ahLst/>
            <a:cxnLst/>
            <a:rect r="r" b="b" t="t" l="l"/>
            <a:pathLst>
              <a:path h="13451163" w="17956650">
                <a:moveTo>
                  <a:pt x="17956650" y="0"/>
                </a:moveTo>
                <a:lnTo>
                  <a:pt x="0" y="0"/>
                </a:lnTo>
                <a:lnTo>
                  <a:pt x="0" y="13451164"/>
                </a:lnTo>
                <a:lnTo>
                  <a:pt x="17956650" y="13451164"/>
                </a:lnTo>
                <a:lnTo>
                  <a:pt x="17956650" y="0"/>
                </a:lnTo>
                <a:close/>
              </a:path>
            </a:pathLst>
          </a:custGeom>
          <a:blipFill>
            <a:blip r:embed="rId2">
              <a:alphaModFix amt="6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98745" y="2160587"/>
            <a:ext cx="8090509" cy="112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33"/>
              </a:lnSpc>
            </a:pPr>
            <a:r>
              <a:rPr lang="en-US" sz="6595" spc="13">
                <a:solidFill>
                  <a:srgbClr val="3E0817"/>
                </a:solidFill>
                <a:latin typeface="Peace Sans"/>
                <a:ea typeface="Peace Sans"/>
                <a:cs typeface="Peace Sans"/>
                <a:sym typeface="Peace Sans"/>
              </a:rPr>
              <a:t>HOW IT WORKS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365402" y="771525"/>
            <a:ext cx="15659428" cy="11730335"/>
          </a:xfrm>
          <a:custGeom>
            <a:avLst/>
            <a:gdLst/>
            <a:ahLst/>
            <a:cxnLst/>
            <a:rect r="r" b="b" t="t" l="l"/>
            <a:pathLst>
              <a:path h="11730335" w="15659428">
                <a:moveTo>
                  <a:pt x="0" y="0"/>
                </a:moveTo>
                <a:lnTo>
                  <a:pt x="15659427" y="0"/>
                </a:lnTo>
                <a:lnTo>
                  <a:pt x="15659427" y="11730335"/>
                </a:lnTo>
                <a:lnTo>
                  <a:pt x="0" y="11730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7381" y="8442535"/>
            <a:ext cx="3126034" cy="139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61"/>
              </a:lnSpc>
            </a:pPr>
            <a:r>
              <a:rPr lang="en-US" sz="8115" spc="1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  <p:sp>
        <p:nvSpPr>
          <p:cNvPr name="AutoShape 6" id="6"/>
          <p:cNvSpPr/>
          <p:nvPr/>
        </p:nvSpPr>
        <p:spPr>
          <a:xfrm>
            <a:off x="3114233" y="9220200"/>
            <a:ext cx="12170942" cy="38100"/>
          </a:xfrm>
          <a:prstGeom prst="line">
            <a:avLst/>
          </a:prstGeom>
          <a:ln cap="flat" w="9525">
            <a:solidFill>
              <a:srgbClr val="3E081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055858" y="3781465"/>
            <a:ext cx="4314721" cy="3542030"/>
            <a:chOff x="0" y="0"/>
            <a:chExt cx="732836" cy="6015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2836" cy="601598"/>
            </a:xfrm>
            <a:custGeom>
              <a:avLst/>
              <a:gdLst/>
              <a:ahLst/>
              <a:cxnLst/>
              <a:rect r="r" b="b" t="t" l="l"/>
              <a:pathLst>
                <a:path h="601598" w="732836">
                  <a:moveTo>
                    <a:pt x="41269" y="0"/>
                  </a:moveTo>
                  <a:lnTo>
                    <a:pt x="691567" y="0"/>
                  </a:lnTo>
                  <a:cubicBezTo>
                    <a:pt x="714360" y="0"/>
                    <a:pt x="732836" y="18477"/>
                    <a:pt x="732836" y="41269"/>
                  </a:cubicBezTo>
                  <a:lnTo>
                    <a:pt x="732836" y="560329"/>
                  </a:lnTo>
                  <a:cubicBezTo>
                    <a:pt x="732836" y="583122"/>
                    <a:pt x="714360" y="601598"/>
                    <a:pt x="691567" y="601598"/>
                  </a:cubicBezTo>
                  <a:lnTo>
                    <a:pt x="41269" y="601598"/>
                  </a:lnTo>
                  <a:cubicBezTo>
                    <a:pt x="18477" y="601598"/>
                    <a:pt x="0" y="583122"/>
                    <a:pt x="0" y="560329"/>
                  </a:cubicBezTo>
                  <a:lnTo>
                    <a:pt x="0" y="41269"/>
                  </a:lnTo>
                  <a:cubicBezTo>
                    <a:pt x="0" y="18477"/>
                    <a:pt x="18477" y="0"/>
                    <a:pt x="41269" y="0"/>
                  </a:cubicBezTo>
                  <a:close/>
                </a:path>
              </a:pathLst>
            </a:custGeom>
            <a:blipFill>
              <a:blip r:embed="rId4"/>
              <a:stretch>
                <a:fillRect l="-285" t="0" r="-28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62115" y="4193877"/>
            <a:ext cx="8013138" cy="2660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16"/>
              </a:lnSpc>
            </a:pPr>
            <a:r>
              <a:rPr lang="en-US" b="true" sz="308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📅  Enter subjects &amp; deadlines</a:t>
            </a:r>
          </a:p>
          <a:p>
            <a:pPr algn="l" marL="0" indent="0" lvl="0">
              <a:lnSpc>
                <a:spcPts val="4316"/>
              </a:lnSpc>
            </a:pPr>
            <a:r>
              <a:rPr lang="en-US" b="true" sz="308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⏰  Set your available study hours</a:t>
            </a:r>
          </a:p>
          <a:p>
            <a:pPr algn="l" marL="0" indent="0" lvl="0">
              <a:lnSpc>
                <a:spcPts val="4316"/>
              </a:lnSpc>
            </a:pPr>
            <a:r>
              <a:rPr lang="en-US" b="true" sz="308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📋  Algorithm builds your plan</a:t>
            </a:r>
          </a:p>
          <a:p>
            <a:pPr algn="l" marL="0" indent="0" lvl="0">
              <a:lnSpc>
                <a:spcPts val="4316"/>
              </a:lnSpc>
            </a:pPr>
            <a:r>
              <a:rPr lang="en-US" b="true" sz="308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✅  Receive a day-by-day schedule</a:t>
            </a:r>
          </a:p>
          <a:p>
            <a:pPr algn="l" marL="0" indent="0" lvl="0">
              <a:lnSpc>
                <a:spcPts val="4316"/>
              </a:lnSpc>
            </a:pPr>
            <a:r>
              <a:rPr lang="en-US" b="true" sz="308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🔄  Auto-adjusts as you progress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86089" y="609600"/>
            <a:ext cx="3126034" cy="139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61"/>
              </a:lnSpc>
            </a:pPr>
            <a:r>
              <a:rPr lang="en-US" sz="8115" spc="1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19423" y="8856547"/>
            <a:ext cx="1459364" cy="65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4"/>
              </a:lnSpc>
            </a:pPr>
            <a:r>
              <a:rPr lang="en-US" sz="3788" spc="7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846439">
            <a:off x="-3206122" y="-6965156"/>
            <a:ext cx="12640709" cy="9469040"/>
          </a:xfrm>
          <a:custGeom>
            <a:avLst/>
            <a:gdLst/>
            <a:ahLst/>
            <a:cxnLst/>
            <a:rect r="r" b="b" t="t" l="l"/>
            <a:pathLst>
              <a:path h="9469040" w="12640709">
                <a:moveTo>
                  <a:pt x="12640709" y="0"/>
                </a:moveTo>
                <a:lnTo>
                  <a:pt x="0" y="0"/>
                </a:lnTo>
                <a:lnTo>
                  <a:pt x="0" y="9469040"/>
                </a:lnTo>
                <a:lnTo>
                  <a:pt x="12640709" y="9469040"/>
                </a:lnTo>
                <a:lnTo>
                  <a:pt x="12640709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98745" y="2179637"/>
            <a:ext cx="8090509" cy="9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43"/>
              </a:lnSpc>
            </a:pPr>
            <a:r>
              <a:rPr lang="en-US" sz="5317" spc="10">
                <a:solidFill>
                  <a:srgbClr val="3E0817"/>
                </a:solidFill>
                <a:latin typeface="Peace Sans"/>
                <a:ea typeface="Peace Sans"/>
                <a:cs typeface="Peace Sans"/>
                <a:sym typeface="Peace Sans"/>
              </a:rPr>
              <a:t>PROGRESS ANALYTICS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-6723837">
            <a:off x="11275504" y="8659467"/>
            <a:ext cx="12640709" cy="9469040"/>
          </a:xfrm>
          <a:custGeom>
            <a:avLst/>
            <a:gdLst/>
            <a:ahLst/>
            <a:cxnLst/>
            <a:rect r="r" b="b" t="t" l="l"/>
            <a:pathLst>
              <a:path h="9469040" w="12640709">
                <a:moveTo>
                  <a:pt x="12640708" y="9469039"/>
                </a:moveTo>
                <a:lnTo>
                  <a:pt x="0" y="9469039"/>
                </a:lnTo>
                <a:lnTo>
                  <a:pt x="0" y="0"/>
                </a:lnTo>
                <a:lnTo>
                  <a:pt x="12640708" y="0"/>
                </a:lnTo>
                <a:lnTo>
                  <a:pt x="12640708" y="9469039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13856" y="3506435"/>
            <a:ext cx="6930201" cy="523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57"/>
              </a:lnSpc>
            </a:pPr>
            <a:r>
              <a:rPr lang="en-US" b="true" sz="268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Completion Tracking Dashboard</a:t>
            </a:r>
          </a:p>
          <a:p>
            <a:pPr algn="l" marL="0" indent="0" lvl="0">
              <a:lnSpc>
                <a:spcPts val="3757"/>
              </a:lnSpc>
            </a:pPr>
            <a:r>
              <a:rPr lang="en-US" b="true" sz="268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✔ Completed vs. remaining tasks visualized in real time</a:t>
            </a:r>
          </a:p>
          <a:p>
            <a:pPr algn="l" marL="0" indent="0" lvl="0">
              <a:lnSpc>
                <a:spcPts val="3757"/>
              </a:lnSpc>
            </a:pPr>
            <a:r>
              <a:rPr lang="en-US" b="true" sz="268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✔ Daily, weekly &amp; monthly progress reports</a:t>
            </a:r>
          </a:p>
          <a:p>
            <a:pPr algn="l" marL="0" indent="0" lvl="0">
              <a:lnSpc>
                <a:spcPts val="3757"/>
              </a:lnSpc>
            </a:pPr>
            <a:r>
              <a:rPr lang="en-US" b="true" sz="268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✔ Automatic completion percentage per subject</a:t>
            </a:r>
          </a:p>
          <a:p>
            <a:pPr algn="l" marL="0" indent="0" lvl="0">
              <a:lnSpc>
                <a:spcPts val="3757"/>
              </a:lnSpc>
            </a:pPr>
            <a:r>
              <a:rPr lang="en-US" b="true" sz="268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✔ Missed deadlines flagged instantly</a:t>
            </a:r>
          </a:p>
          <a:p>
            <a:pPr algn="l" marL="0" indent="0" lvl="0">
              <a:lnSpc>
                <a:spcPts val="3757"/>
              </a:lnSpc>
            </a:pPr>
            <a:r>
              <a:rPr lang="en-US" b="true" sz="268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✔ Streak tracking to boost consistency</a:t>
            </a:r>
          </a:p>
          <a:p>
            <a:pPr algn="l" marL="0" indent="0" lvl="0">
              <a:lnSpc>
                <a:spcPts val="3757"/>
              </a:lnSpc>
            </a:pPr>
            <a:r>
              <a:rPr lang="en-US" b="true" sz="268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✔ MongoDB aggregation powers all metrics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86089" y="609600"/>
            <a:ext cx="3126034" cy="139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61"/>
              </a:lnSpc>
            </a:pPr>
            <a:r>
              <a:rPr lang="en-US" sz="8115" spc="1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7381" y="8442535"/>
            <a:ext cx="3126034" cy="139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61"/>
              </a:lnSpc>
            </a:pPr>
            <a:r>
              <a:rPr lang="en-US" sz="8115" spc="1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  <p:sp>
        <p:nvSpPr>
          <p:cNvPr name="AutoShape 8" id="8"/>
          <p:cNvSpPr/>
          <p:nvPr/>
        </p:nvSpPr>
        <p:spPr>
          <a:xfrm>
            <a:off x="3114233" y="9220200"/>
            <a:ext cx="12170942" cy="38100"/>
          </a:xfrm>
          <a:prstGeom prst="line">
            <a:avLst/>
          </a:prstGeom>
          <a:ln cap="flat" w="9525">
            <a:solidFill>
              <a:srgbClr val="3E08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5619423" y="8875597"/>
            <a:ext cx="1459364" cy="52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76"/>
              </a:lnSpc>
            </a:pPr>
            <a:r>
              <a:rPr lang="en-US" sz="3054" spc="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06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136817" y="2913250"/>
            <a:ext cx="7286896" cy="64812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628861">
            <a:off x="120893" y="-7202715"/>
            <a:ext cx="12640709" cy="9469040"/>
          </a:xfrm>
          <a:custGeom>
            <a:avLst/>
            <a:gdLst/>
            <a:ahLst/>
            <a:cxnLst/>
            <a:rect r="r" b="b" t="t" l="l"/>
            <a:pathLst>
              <a:path h="9469040" w="12640709">
                <a:moveTo>
                  <a:pt x="0" y="9469040"/>
                </a:moveTo>
                <a:lnTo>
                  <a:pt x="12640708" y="9469040"/>
                </a:lnTo>
                <a:lnTo>
                  <a:pt x="12640708" y="0"/>
                </a:lnTo>
                <a:lnTo>
                  <a:pt x="0" y="0"/>
                </a:lnTo>
                <a:lnTo>
                  <a:pt x="0" y="946904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34589" y="2653055"/>
            <a:ext cx="8090509" cy="112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33"/>
              </a:lnSpc>
            </a:pPr>
            <a:r>
              <a:rPr lang="en-US" sz="6595" spc="13">
                <a:solidFill>
                  <a:srgbClr val="3E0817"/>
                </a:solidFill>
                <a:latin typeface="Peace Sans"/>
                <a:ea typeface="Peace Sans"/>
                <a:cs typeface="Peace Sans"/>
                <a:sym typeface="Peace Sans"/>
              </a:rPr>
              <a:t>CONCLUSION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-1965555">
            <a:off x="3061936" y="7831702"/>
            <a:ext cx="12640709" cy="9469040"/>
          </a:xfrm>
          <a:custGeom>
            <a:avLst/>
            <a:gdLst/>
            <a:ahLst/>
            <a:cxnLst/>
            <a:rect r="r" b="b" t="t" l="l"/>
            <a:pathLst>
              <a:path h="9469040" w="12640709">
                <a:moveTo>
                  <a:pt x="12640708" y="0"/>
                </a:moveTo>
                <a:lnTo>
                  <a:pt x="0" y="0"/>
                </a:lnTo>
                <a:lnTo>
                  <a:pt x="0" y="9469040"/>
                </a:lnTo>
                <a:lnTo>
                  <a:pt x="12640708" y="9469040"/>
                </a:lnTo>
                <a:lnTo>
                  <a:pt x="12640708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575069"/>
            <a:ext cx="16625558" cy="268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58"/>
              </a:lnSpc>
            </a:pPr>
            <a:r>
              <a:rPr lang="en-US" b="true" sz="311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A single MERN app empowers students to plan, track, and succeed</a:t>
            </a:r>
          </a:p>
          <a:p>
            <a:pPr algn="ctr" marL="0" indent="0" lvl="0">
              <a:lnSpc>
                <a:spcPts val="4358"/>
              </a:lnSpc>
            </a:pPr>
            <a:r>
              <a:rPr lang="en-US" b="true" sz="311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Automated schedules eliminate poor time management</a:t>
            </a:r>
          </a:p>
          <a:p>
            <a:pPr algn="ctr" marL="0" indent="0" lvl="0">
              <a:lnSpc>
                <a:spcPts val="4358"/>
              </a:lnSpc>
            </a:pPr>
            <a:r>
              <a:rPr lang="en-US" b="true" sz="311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Progress monitoring ensures deadlines are never missed</a:t>
            </a:r>
          </a:p>
          <a:p>
            <a:pPr algn="ctr" marL="0" indent="0" lvl="0">
              <a:lnSpc>
                <a:spcPts val="4358"/>
              </a:lnSpc>
            </a:pPr>
            <a:r>
              <a:rPr lang="en-US" b="true" sz="311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• Clean, responsive UI keeps students engaged and on track</a:t>
            </a:r>
          </a:p>
          <a:p>
            <a:pPr algn="ctr" marL="0" indent="0" lvl="0">
              <a:lnSpc>
                <a:spcPts val="4358"/>
              </a:lnSpc>
            </a:pPr>
            <a:r>
              <a:rPr lang="en-US" b="true" sz="3113">
                <a:solidFill>
                  <a:srgbClr val="3E081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Next Steps: User testing → Refinement → Full Deployment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86089" y="609600"/>
            <a:ext cx="3126034" cy="139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61"/>
              </a:lnSpc>
            </a:pPr>
            <a:r>
              <a:rPr lang="en-US" sz="8115" spc="1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7381" y="8442535"/>
            <a:ext cx="3126034" cy="139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361"/>
              </a:lnSpc>
            </a:pPr>
            <a:r>
              <a:rPr lang="en-US" sz="8115" spc="16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•••</a:t>
            </a:r>
          </a:p>
        </p:txBody>
      </p:sp>
      <p:sp>
        <p:nvSpPr>
          <p:cNvPr name="AutoShape 8" id="8"/>
          <p:cNvSpPr/>
          <p:nvPr/>
        </p:nvSpPr>
        <p:spPr>
          <a:xfrm>
            <a:off x="3114233" y="9220200"/>
            <a:ext cx="12170942" cy="38100"/>
          </a:xfrm>
          <a:prstGeom prst="line">
            <a:avLst/>
          </a:prstGeom>
          <a:ln cap="flat" w="9525">
            <a:solidFill>
              <a:srgbClr val="3E08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5619423" y="8856547"/>
            <a:ext cx="1459364" cy="651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4"/>
              </a:lnSpc>
            </a:pPr>
            <a:r>
              <a:rPr lang="en-US" sz="3788" spc="7">
                <a:solidFill>
                  <a:srgbClr val="C2A3AB"/>
                </a:solidFill>
                <a:latin typeface="Peace Sans"/>
                <a:ea typeface="Peace Sans"/>
                <a:cs typeface="Peace Sans"/>
                <a:sym typeface="Peace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D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4961" y="3539860"/>
            <a:ext cx="11771790" cy="2482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46"/>
              </a:lnSpc>
              <a:spcBef>
                <a:spcPct val="0"/>
              </a:spcBef>
            </a:pPr>
            <a:r>
              <a:rPr lang="en-US" sz="14533" spc="29">
                <a:solidFill>
                  <a:srgbClr val="000000"/>
                </a:solidFill>
                <a:latin typeface="Peace Sans"/>
                <a:ea typeface="Peace Sans"/>
                <a:cs typeface="Peace Sans"/>
                <a:sym typeface="Peace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DAHXlI8duZo</dc:identifier>
  <dcterms:modified xsi:type="dcterms:W3CDTF">2011-08-01T06:04:30Z</dcterms:modified>
  <cp:revision>1</cp:revision>
  <dc:title>TEAM 9 </dc:title>
</cp:coreProperties>
</file>